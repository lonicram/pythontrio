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s/slide1.xml" ContentType="application/vnd.openxmlformats-officedocument.presentationml.slide+xml"/>
  <Override PartName="/ppt/slides/_rels/slide12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slides/slide12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svg" ContentType="image/svg"/>
  <Override PartName="/ppt/media/image8.png" ContentType="image/png"/>
  <Override PartName="/ppt/media/image12.png" ContentType="image/png"/>
  <Override PartName="/ppt/media/image6.png" ContentType="image/png"/>
  <Override PartName="/ppt/media/image7.svg" ContentType="image/svg"/>
  <Override PartName="/ppt/media/image9.png" ContentType="image/png"/>
  <Override PartName="/ppt/media/image10.svg" ContentType="image/svg"/>
  <Override PartName="/ppt/media/image11.png" ContentType="image/pn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50" r:id="rId3"/>
  </p:sld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</p:sldIdLst>
  <p:sldSz cx="10080625" cy="5670550"/>
  <p:notesSz cx="7559675" cy="10691813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Midnightblu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640" cy="71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/>
          </p:nvPr>
        </p:nvSpPr>
        <p:spPr>
          <a:xfrm>
            <a:off x="360000" y="1485000"/>
            <a:ext cx="9359640" cy="377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spcBef>
                <a:spcPts val="1417"/>
              </a:spcBef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B6D742A-840B-4856-8D76-440B7DA8EB78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3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640" cy="71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44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subTitle"/>
          </p:nvPr>
        </p:nvSpPr>
        <p:spPr>
          <a:xfrm>
            <a:off x="360000" y="1485000"/>
            <a:ext cx="9359640" cy="377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buNone/>
            </a:pP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4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25DF38BF-1209-4FC0-B33D-B8291FFFE4BC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6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_rels/slideMaster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"/>
          <p:cNvSpPr/>
          <p:nvPr/>
        </p:nvSpPr>
        <p:spPr>
          <a:xfrm>
            <a:off x="0" y="5400000"/>
            <a:ext cx="10079640" cy="269640"/>
          </a:xfrm>
          <a:prstGeom prst="rect">
            <a:avLst/>
          </a:prstGeom>
          <a:solidFill>
            <a:srgbClr val="2c3e50"/>
          </a:solidFill>
          <a:ln w="108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2c3e50"/>
              </a:solidFill>
              <a:latin typeface="Noto Sans"/>
              <a:ea typeface="DejaVu Sans"/>
            </a:endParaRPr>
          </a:p>
        </p:txBody>
      </p:sp>
      <p:sp>
        <p:nvSpPr>
          <p:cNvPr id="1" name=""/>
          <p:cNvSpPr/>
          <p:nvPr/>
        </p:nvSpPr>
        <p:spPr>
          <a:xfrm>
            <a:off x="0" y="0"/>
            <a:ext cx="10079640" cy="1214640"/>
          </a:xfrm>
          <a:prstGeom prst="rect">
            <a:avLst/>
          </a:prstGeom>
          <a:solidFill>
            <a:srgbClr val="2c3e50"/>
          </a:solidFill>
          <a:ln w="108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2c3e50"/>
              </a:solidFill>
              <a:latin typeface="Noto Sans"/>
              <a:ea typeface="DejaVu Sans"/>
            </a:endParaRPr>
          </a:p>
        </p:txBody>
      </p:sp>
      <p:sp>
        <p:nvSpPr>
          <p:cNvPr id="2" name=""/>
          <p:cNvSpPr/>
          <p:nvPr/>
        </p:nvSpPr>
        <p:spPr>
          <a:xfrm>
            <a:off x="9315000" y="5175000"/>
            <a:ext cx="449640" cy="449640"/>
          </a:xfrm>
          <a:prstGeom prst="ellipse">
            <a:avLst/>
          </a:prstGeom>
          <a:solidFill>
            <a:srgbClr val="1abc9c"/>
          </a:solidFill>
          <a:ln w="108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2c3e50"/>
              </a:solidFill>
              <a:latin typeface="Noto Sans"/>
              <a:ea typeface="DejaVu Sans"/>
            </a:endParaRPr>
          </a:p>
        </p:txBody>
      </p:sp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640" cy="71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</a:t>
            </a: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360000" y="1485000"/>
            <a:ext cx="9359640" cy="377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5" name="PlaceHolder 3"/>
          <p:cNvSpPr>
            <a:spLocks noGrp="1"/>
          </p:cNvSpPr>
          <p:nvPr>
            <p:ph type="ftr" idx="1"/>
          </p:nvPr>
        </p:nvSpPr>
        <p:spPr>
          <a:xfrm>
            <a:off x="3420000" y="5400000"/>
            <a:ext cx="3239640" cy="26964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en-US" sz="1800" spc="-1" strike="noStrike">
                <a:solidFill>
                  <a:srgbClr val="ffffff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Noto Sans"/>
              </a:rPr>
              <a:t>&lt;footer&gt;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6" name="PlaceHolder 4"/>
          <p:cNvSpPr>
            <a:spLocks noGrp="1"/>
          </p:cNvSpPr>
          <p:nvPr>
            <p:ph type="sldNum" idx="2"/>
          </p:nvPr>
        </p:nvSpPr>
        <p:spPr>
          <a:xfrm>
            <a:off x="9180000" y="5175000"/>
            <a:ext cx="719640" cy="44964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en-US" sz="1800" spc="-1" strike="noStrike">
                <a:solidFill>
                  <a:srgbClr val="ffffff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0B653342-A6A7-4704-B816-B880403C3307}" type="slidenum">
              <a:rPr b="1" lang="en-US" sz="1800" spc="-1" strike="noStrike">
                <a:solidFill>
                  <a:srgbClr val="ffffff"/>
                </a:solidFill>
                <a:latin typeface="Noto Sans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7" name="PlaceHolder 5"/>
          <p:cNvSpPr>
            <a:spLocks noGrp="1"/>
          </p:cNvSpPr>
          <p:nvPr>
            <p:ph type="dt" idx="3"/>
          </p:nvPr>
        </p:nvSpPr>
        <p:spPr>
          <a:xfrm>
            <a:off x="360000" y="5400000"/>
            <a:ext cx="2879640" cy="26964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Masters/slideMaster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"/>
          <p:cNvSpPr/>
          <p:nvPr/>
        </p:nvSpPr>
        <p:spPr>
          <a:xfrm>
            <a:off x="0" y="5400000"/>
            <a:ext cx="10079640" cy="269640"/>
          </a:xfrm>
          <a:prstGeom prst="rect">
            <a:avLst/>
          </a:prstGeom>
          <a:solidFill>
            <a:srgbClr val="2c3e50"/>
          </a:solidFill>
          <a:ln w="108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2c3e50"/>
              </a:solidFill>
              <a:latin typeface="Noto Sans"/>
              <a:ea typeface="DejaVu Sans"/>
            </a:endParaRPr>
          </a:p>
        </p:txBody>
      </p:sp>
      <p:sp>
        <p:nvSpPr>
          <p:cNvPr id="11" name=""/>
          <p:cNvSpPr/>
          <p:nvPr/>
        </p:nvSpPr>
        <p:spPr>
          <a:xfrm>
            <a:off x="0" y="0"/>
            <a:ext cx="10079640" cy="1214640"/>
          </a:xfrm>
          <a:prstGeom prst="rect">
            <a:avLst/>
          </a:prstGeom>
          <a:solidFill>
            <a:srgbClr val="2c3e50"/>
          </a:solidFill>
          <a:ln w="108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2c3e50"/>
              </a:solidFill>
              <a:latin typeface="Noto Sans"/>
              <a:ea typeface="DejaVu Sans"/>
            </a:endParaRPr>
          </a:p>
        </p:txBody>
      </p:sp>
      <p:sp>
        <p:nvSpPr>
          <p:cNvPr id="12" name=""/>
          <p:cNvSpPr/>
          <p:nvPr/>
        </p:nvSpPr>
        <p:spPr>
          <a:xfrm>
            <a:off x="9315000" y="5175000"/>
            <a:ext cx="449640" cy="449640"/>
          </a:xfrm>
          <a:prstGeom prst="ellipse">
            <a:avLst/>
          </a:prstGeom>
          <a:solidFill>
            <a:srgbClr val="1abc9c"/>
          </a:solidFill>
          <a:ln w="10800">
            <a:solidFill>
              <a:srgbClr val="1abc9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wrap="none" lIns="90000" rIns="90000" tIns="45000" bIns="45000" anchor="ctr">
            <a:noAutofit/>
          </a:bodyPr>
          <a:p>
            <a:pPr algn="ctr">
              <a:lnSpc>
                <a:spcPct val="100000"/>
              </a:lnSpc>
            </a:pPr>
            <a:endParaRPr b="0" lang="en-US" sz="1800" spc="-1" strike="noStrike">
              <a:solidFill>
                <a:srgbClr val="2c3e50"/>
              </a:solidFill>
              <a:latin typeface="Noto Sans"/>
              <a:ea typeface="DejaVu Sans"/>
            </a:endParaRPr>
          </a:p>
        </p:txBody>
      </p:sp>
      <p:sp>
        <p:nvSpPr>
          <p:cNvPr id="13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640" cy="71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buNone/>
            </a:pPr>
            <a:r>
              <a:rPr b="0" lang="en-US" sz="1800" spc="-1" strike="noStrike">
                <a:solidFill>
                  <a:srgbClr val="000000"/>
                </a:solidFill>
                <a:latin typeface="Arial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14" name="PlaceHolder 2"/>
          <p:cNvSpPr>
            <a:spLocks noGrp="1"/>
          </p:cNvSpPr>
          <p:nvPr>
            <p:ph type="ftr" idx="4"/>
          </p:nvPr>
        </p:nvSpPr>
        <p:spPr>
          <a:xfrm>
            <a:off x="3420000" y="5400000"/>
            <a:ext cx="3239640" cy="26964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en-US" sz="1800" spc="-1" strike="noStrike">
                <a:solidFill>
                  <a:srgbClr val="ffffff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800" spc="-1" strike="noStrike">
                <a:solidFill>
                  <a:srgbClr val="ffffff"/>
                </a:solidFill>
                <a:latin typeface="Noto Sans"/>
              </a:rPr>
              <a:t>&lt;footer&gt;</a:t>
            </a:r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5" name="PlaceHolder 3"/>
          <p:cNvSpPr>
            <a:spLocks noGrp="1"/>
          </p:cNvSpPr>
          <p:nvPr>
            <p:ph type="sldNum" idx="5"/>
          </p:nvPr>
        </p:nvSpPr>
        <p:spPr>
          <a:xfrm>
            <a:off x="9180000" y="5175000"/>
            <a:ext cx="719640" cy="44964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1" lang="en-US" sz="1800" spc="-1" strike="noStrike">
                <a:solidFill>
                  <a:srgbClr val="ffffff"/>
                </a:solidFill>
                <a:latin typeface="Noto Sans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fld id="{A8CF6106-BC7B-470B-A184-C4A0B4BF6554}" type="slidenum">
              <a:rPr b="1" lang="en-US" sz="1800" spc="-1" strike="noStrike">
                <a:solidFill>
                  <a:srgbClr val="ffffff"/>
                </a:solidFill>
                <a:latin typeface="Noto Sans"/>
              </a:rPr>
              <a:t>&lt;number&gt;</a:t>
            </a:fld>
            <a:endParaRPr b="0" lang="en-US" sz="18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6" name="PlaceHolder 4"/>
          <p:cNvSpPr>
            <a:spLocks noGrp="1"/>
          </p:cNvSpPr>
          <p:nvPr>
            <p:ph type="dt" idx="6"/>
          </p:nvPr>
        </p:nvSpPr>
        <p:spPr>
          <a:xfrm>
            <a:off x="360000" y="5400000"/>
            <a:ext cx="2879640" cy="269640"/>
          </a:xfrm>
          <a:prstGeom prst="rect">
            <a:avLst/>
          </a:prstGeom>
          <a:noFill/>
          <a:ln w="72000">
            <a:noFill/>
          </a:ln>
        </p:spPr>
        <p:txBody>
          <a:bodyPr lIns="0" rIns="0" tIns="0" bIns="0" anchor="t">
            <a:noAutofit/>
          </a:bodyPr>
          <a:lstStyle>
            <a:lvl1pPr indent="0">
              <a:buNone/>
              <a:defRPr b="0" lang="en-US" sz="1400" spc="-1" strike="noStrike">
                <a:solidFill>
                  <a:srgbClr val="000000"/>
                </a:solidFill>
                <a:latin typeface="Times New Roman"/>
              </a:defRPr>
            </a:lvl1pPr>
          </a:lstStyle>
          <a:p>
            <a:pPr indent="0">
              <a:buNone/>
            </a:pPr>
            <a:r>
              <a:rPr b="0" lang="en-US" sz="1400" spc="-1" strike="noStrike">
                <a:solidFill>
                  <a:srgbClr val="000000"/>
                </a:solidFill>
                <a:latin typeface="Times New Roman"/>
              </a:rPr>
              <a:t>&lt;date/time&gt;</a:t>
            </a:r>
            <a:endParaRPr b="0" lang="en-US" sz="1400" spc="-1" strike="noStrike">
              <a:solidFill>
                <a:srgbClr val="000000"/>
              </a:solidFill>
              <a:latin typeface="Times New Roman"/>
            </a:endParaRPr>
          </a:p>
        </p:txBody>
      </p:sp>
      <p:sp>
        <p:nvSpPr>
          <p:cNvPr id="17" name="PlaceHolder 5"/>
          <p:cNvSpPr>
            <a:spLocks noGrp="1"/>
          </p:cNvSpPr>
          <p:nvPr>
            <p:ph type="body"/>
          </p:nvPr>
        </p:nvSpPr>
        <p:spPr>
          <a:xfrm>
            <a:off x="504000" y="1326600"/>
            <a:ext cx="9072000" cy="3288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Arial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800" spc="-1" strike="noStrike">
                <a:solidFill>
                  <a:srgbClr val="000000"/>
                </a:solidFill>
                <a:latin typeface="Arial"/>
              </a:rPr>
              <a:t>Second Outline Level</a:t>
            </a:r>
            <a:endParaRPr b="0" lang="en-US" sz="2800" spc="-1" strike="noStrike">
              <a:solidFill>
                <a:srgbClr val="000000"/>
              </a:solidFill>
              <a:latin typeface="Arial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400" spc="-1" strike="noStrike">
                <a:solidFill>
                  <a:srgbClr val="000000"/>
                </a:solidFill>
                <a:latin typeface="Arial"/>
              </a:rPr>
              <a:t>Third Outline Level</a:t>
            </a:r>
            <a:endParaRPr b="0" lang="en-US" sz="2400" spc="-1" strike="noStrike">
              <a:solidFill>
                <a:srgbClr val="000000"/>
              </a:solidFill>
              <a:latin typeface="Arial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Arial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Arial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51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slideLayout" Target="../slideLayouts/slideLayout2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2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svg"/><Relationship Id="rId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svg"/><Relationship Id="rId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sv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640" cy="71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700" spc="-1" strike="noStrike">
                <a:solidFill>
                  <a:srgbClr val="ffffff"/>
                </a:solidFill>
                <a:latin typeface="Noto Sans"/>
              </a:rPr>
              <a:t>Python Trio: Alembic, SQLAlchemy &amp; FastAPI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21" name="PlaceHolder 2"/>
          <p:cNvSpPr>
            <a:spLocks noGrp="1"/>
          </p:cNvSpPr>
          <p:nvPr>
            <p:ph type="subTitle"/>
          </p:nvPr>
        </p:nvSpPr>
        <p:spPr>
          <a:xfrm>
            <a:off x="360000" y="1485000"/>
            <a:ext cx="9359640" cy="377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3200" spc="-1" strike="noStrike">
                <a:solidFill>
                  <a:srgbClr val="2c3e50"/>
                </a:solidFill>
                <a:latin typeface="Noto Sans"/>
              </a:rPr>
              <a:t>A Practical Introduction to the Python Ecosystem</a:t>
            </a:r>
            <a:endParaRPr b="0" lang="en-US" sz="32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5"/>
          </p:nvPr>
        </p:nvSpPr>
        <p:spPr/>
        <p:txBody>
          <a:bodyPr/>
          <a:p>
            <a:fld id="{64F00D50-3F3E-41E9-B848-E481E3F1CD5D}" type="slidenum">
              <a:t>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Shape 0"/>
          <p:cNvSpPr/>
          <p:nvPr/>
        </p:nvSpPr>
        <p:spPr>
          <a:xfrm>
            <a:off x="0" y="0"/>
            <a:ext cx="72720" cy="5143320"/>
          </a:xfrm>
          <a:prstGeom prst="rect">
            <a:avLst/>
          </a:prstGeom>
          <a:solidFill>
            <a:srgbClr val="f5c51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23" name="Image 0" descr="preencoded.png"/>
          <p:cNvPicPr/>
          <p:nvPr/>
        </p:nvPicPr>
        <p:blipFill>
          <a:blip r:embed="rId1"/>
          <a:stretch/>
        </p:blipFill>
        <p:spPr>
          <a:xfrm>
            <a:off x="274680" y="274680"/>
            <a:ext cx="639720" cy="639720"/>
          </a:xfrm>
          <a:prstGeom prst="rect">
            <a:avLst/>
          </a:prstGeom>
          <a:ln w="0">
            <a:noFill/>
          </a:ln>
        </p:spPr>
      </p:pic>
      <p:sp>
        <p:nvSpPr>
          <p:cNvPr id="24" name="Text 1"/>
          <p:cNvSpPr/>
          <p:nvPr/>
        </p:nvSpPr>
        <p:spPr>
          <a:xfrm>
            <a:off x="1143000" y="228600"/>
            <a:ext cx="61722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Noto Sans"/>
                <a:ea typeface="Trebuchet MS"/>
              </a:rPr>
              <a:t>Why FastAPI?</a:t>
            </a:r>
            <a:endParaRPr b="0" lang="en-US" sz="2600" spc="-1" strike="noStrike">
              <a:solidFill>
                <a:srgbClr val="ffffff"/>
              </a:solidFill>
              <a:latin typeface="Noto Sans"/>
            </a:endParaRPr>
          </a:p>
        </p:txBody>
      </p:sp>
      <p:sp>
        <p:nvSpPr>
          <p:cNvPr id="25" name="Text 2"/>
          <p:cNvSpPr/>
          <p:nvPr/>
        </p:nvSpPr>
        <p:spPr>
          <a:xfrm>
            <a:off x="1143000" y="1234440"/>
            <a:ext cx="6720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cbd5e1"/>
                </a:solidFill>
                <a:latin typeface="Calibri"/>
                <a:ea typeface="Calibri"/>
              </a:rPr>
              <a:t>Modern, fast, developer-friendly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6" name="Shape 3"/>
          <p:cNvSpPr/>
          <p:nvPr/>
        </p:nvSpPr>
        <p:spPr>
          <a:xfrm>
            <a:off x="640080" y="2011680"/>
            <a:ext cx="3748680" cy="1371240"/>
          </a:xfrm>
          <a:prstGeom prst="roundRect">
            <a:avLst>
              <a:gd name="adj" fmla="val 8000"/>
            </a:avLst>
          </a:prstGeom>
          <a:solidFill>
            <a:srgbClr val="1620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7" name="Text 4"/>
          <p:cNvSpPr/>
          <p:nvPr/>
        </p:nvSpPr>
        <p:spPr>
          <a:xfrm>
            <a:off x="914400" y="219456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5c518"/>
                </a:solidFill>
                <a:latin typeface="Trebuchet MS"/>
                <a:ea typeface="Trebuchet MS"/>
              </a:rPr>
              <a:t>Async &amp; Blazing Fast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8" name="Text 5"/>
          <p:cNvSpPr/>
          <p:nvPr/>
        </p:nvSpPr>
        <p:spPr>
          <a:xfrm>
            <a:off x="914400" y="2606040"/>
            <a:ext cx="3200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Built on Starlette and Pydantic.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One of the fastest Python frameworks available.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29" name="Shape 6"/>
          <p:cNvSpPr/>
          <p:nvPr/>
        </p:nvSpPr>
        <p:spPr>
          <a:xfrm>
            <a:off x="4754880" y="2011680"/>
            <a:ext cx="3748680" cy="1371240"/>
          </a:xfrm>
          <a:prstGeom prst="roundRect">
            <a:avLst>
              <a:gd name="adj" fmla="val 8000"/>
            </a:avLst>
          </a:prstGeom>
          <a:solidFill>
            <a:srgbClr val="1620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0" name="Text 7"/>
          <p:cNvSpPr/>
          <p:nvPr/>
        </p:nvSpPr>
        <p:spPr>
          <a:xfrm>
            <a:off x="5029200" y="219456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5c518"/>
                </a:solidFill>
                <a:latin typeface="Trebuchet MS"/>
                <a:ea typeface="Trebuchet MS"/>
              </a:rPr>
              <a:t>Auto-Generated Docs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1" name="Text 8"/>
          <p:cNvSpPr/>
          <p:nvPr/>
        </p:nvSpPr>
        <p:spPr>
          <a:xfrm>
            <a:off x="5029200" y="2606040"/>
            <a:ext cx="3200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Swagger UI &amp; ReDoc out of the box.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Interactive API exploration for free.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2" name="Shape 9"/>
          <p:cNvSpPr/>
          <p:nvPr/>
        </p:nvSpPr>
        <p:spPr>
          <a:xfrm>
            <a:off x="640080" y="3703320"/>
            <a:ext cx="3748680" cy="1371240"/>
          </a:xfrm>
          <a:prstGeom prst="roundRect">
            <a:avLst>
              <a:gd name="adj" fmla="val 8000"/>
            </a:avLst>
          </a:prstGeom>
          <a:solidFill>
            <a:srgbClr val="1620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3" name="Text 10"/>
          <p:cNvSpPr/>
          <p:nvPr/>
        </p:nvSpPr>
        <p:spPr>
          <a:xfrm>
            <a:off x="914400" y="388620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5c518"/>
                </a:solidFill>
                <a:latin typeface="Trebuchet MS"/>
                <a:ea typeface="Trebuchet MS"/>
              </a:rPr>
              <a:t>Type Safety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4" name="Text 11"/>
          <p:cNvSpPr/>
          <p:nvPr/>
        </p:nvSpPr>
        <p:spPr>
          <a:xfrm>
            <a:off x="914400" y="4297680"/>
            <a:ext cx="3200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Python type hints drive validation,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serialization, and editor support.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5" name="Shape 12"/>
          <p:cNvSpPr/>
          <p:nvPr/>
        </p:nvSpPr>
        <p:spPr>
          <a:xfrm>
            <a:off x="4754880" y="3703320"/>
            <a:ext cx="3748680" cy="1371240"/>
          </a:xfrm>
          <a:prstGeom prst="roundRect">
            <a:avLst>
              <a:gd name="adj" fmla="val 8000"/>
            </a:avLst>
          </a:prstGeom>
          <a:solidFill>
            <a:srgbClr val="1620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6" name="Text 13"/>
          <p:cNvSpPr/>
          <p:nvPr/>
        </p:nvSpPr>
        <p:spPr>
          <a:xfrm>
            <a:off x="5029200" y="388620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f5c518"/>
                </a:solidFill>
                <a:latin typeface="Trebuchet MS"/>
                <a:ea typeface="Trebuchet MS"/>
              </a:rPr>
              <a:t>Easy to Learn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37" name="Text 14"/>
          <p:cNvSpPr/>
          <p:nvPr/>
        </p:nvSpPr>
        <p:spPr>
          <a:xfrm>
            <a:off x="5029200" y="4297680"/>
            <a:ext cx="3200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Minimal boilerplate. Intuitive decorators.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Productive from day one.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Shape 0"/>
          <p:cNvSpPr/>
          <p:nvPr/>
        </p:nvSpPr>
        <p:spPr>
          <a:xfrm>
            <a:off x="0" y="0"/>
            <a:ext cx="72720" cy="5143320"/>
          </a:xfrm>
          <a:prstGeom prst="rect">
            <a:avLst/>
          </a:prstGeom>
          <a:solidFill>
            <a:srgbClr val="0891b2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pic>
        <p:nvPicPr>
          <p:cNvPr id="39" name="Image 0" descr="preencoded.png"/>
          <p:cNvPicPr/>
          <p:nvPr/>
        </p:nvPicPr>
        <p:blipFill>
          <a:blip r:embed="rId1"/>
          <a:stretch/>
        </p:blipFill>
        <p:spPr>
          <a:xfrm>
            <a:off x="274680" y="274680"/>
            <a:ext cx="639720" cy="639720"/>
          </a:xfrm>
          <a:prstGeom prst="rect">
            <a:avLst/>
          </a:prstGeom>
          <a:ln w="0">
            <a:noFill/>
          </a:ln>
        </p:spPr>
      </p:pic>
      <p:sp>
        <p:nvSpPr>
          <p:cNvPr id="40" name="Text 1"/>
          <p:cNvSpPr/>
          <p:nvPr/>
        </p:nvSpPr>
        <p:spPr>
          <a:xfrm>
            <a:off x="1143000" y="228600"/>
            <a:ext cx="640044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Trebuchet MS"/>
                <a:ea typeface="Trebuchet MS"/>
              </a:rPr>
              <a:t>Why SQLAlchemy?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1" name="Text 2"/>
          <p:cNvSpPr/>
          <p:nvPr/>
        </p:nvSpPr>
        <p:spPr>
          <a:xfrm>
            <a:off x="1143360" y="1234440"/>
            <a:ext cx="640044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cbd5e1"/>
                </a:solidFill>
                <a:latin typeface="Calibri"/>
                <a:ea typeface="Calibri"/>
              </a:rPr>
              <a:t>The Python SQL toolkit and ORM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2" name="Shape 3"/>
          <p:cNvSpPr/>
          <p:nvPr/>
        </p:nvSpPr>
        <p:spPr>
          <a:xfrm>
            <a:off x="640080" y="2011680"/>
            <a:ext cx="3748680" cy="1371240"/>
          </a:xfrm>
          <a:prstGeom prst="roundRect">
            <a:avLst>
              <a:gd name="adj" fmla="val 8000"/>
            </a:avLst>
          </a:prstGeom>
          <a:solidFill>
            <a:srgbClr val="1620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3" name="Text 4"/>
          <p:cNvSpPr/>
          <p:nvPr/>
        </p:nvSpPr>
        <p:spPr>
          <a:xfrm>
            <a:off x="914400" y="219456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891b2"/>
                </a:solidFill>
                <a:latin typeface="Trebuchet MS"/>
                <a:ea typeface="Trebuchet MS"/>
              </a:rPr>
              <a:t>Mature &amp; Battle-Tested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4" name="Text 5"/>
          <p:cNvSpPr/>
          <p:nvPr/>
        </p:nvSpPr>
        <p:spPr>
          <a:xfrm>
            <a:off x="914400" y="2606040"/>
            <a:ext cx="3200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15+ years of production use.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The standard for Python database access.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5" name="Shape 6"/>
          <p:cNvSpPr/>
          <p:nvPr/>
        </p:nvSpPr>
        <p:spPr>
          <a:xfrm>
            <a:off x="4754880" y="2011680"/>
            <a:ext cx="3748680" cy="1371240"/>
          </a:xfrm>
          <a:prstGeom prst="roundRect">
            <a:avLst>
              <a:gd name="adj" fmla="val 8000"/>
            </a:avLst>
          </a:prstGeom>
          <a:solidFill>
            <a:srgbClr val="1620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6" name="Text 7"/>
          <p:cNvSpPr/>
          <p:nvPr/>
        </p:nvSpPr>
        <p:spPr>
          <a:xfrm>
            <a:off x="5029200" y="219456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891b2"/>
                </a:solidFill>
                <a:latin typeface="Trebuchet MS"/>
                <a:ea typeface="Trebuchet MS"/>
              </a:rPr>
              <a:t>ORM + Core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7" name="Text 8"/>
          <p:cNvSpPr/>
          <p:nvPr/>
        </p:nvSpPr>
        <p:spPr>
          <a:xfrm>
            <a:off x="5029200" y="2606040"/>
            <a:ext cx="3200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Use high-level ORM models or drop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to raw SQL — your choice per query.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8" name="Shape 9"/>
          <p:cNvSpPr/>
          <p:nvPr/>
        </p:nvSpPr>
        <p:spPr>
          <a:xfrm>
            <a:off x="640080" y="3703320"/>
            <a:ext cx="3748680" cy="1371240"/>
          </a:xfrm>
          <a:prstGeom prst="roundRect">
            <a:avLst>
              <a:gd name="adj" fmla="val 8000"/>
            </a:avLst>
          </a:prstGeom>
          <a:solidFill>
            <a:srgbClr val="1620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49" name="Text 10"/>
          <p:cNvSpPr/>
          <p:nvPr/>
        </p:nvSpPr>
        <p:spPr>
          <a:xfrm>
            <a:off x="914400" y="388620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891b2"/>
                </a:solidFill>
                <a:latin typeface="Trebuchet MS"/>
                <a:ea typeface="Trebuchet MS"/>
              </a:rPr>
              <a:t>Database Agnostic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0" name="Text 11"/>
          <p:cNvSpPr/>
          <p:nvPr/>
        </p:nvSpPr>
        <p:spPr>
          <a:xfrm>
            <a:off x="914400" y="4297680"/>
            <a:ext cx="3200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PostgreSQL, MySQL, SQLite and more.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Switch engines without rewriting code.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1" name="Shape 12"/>
          <p:cNvSpPr/>
          <p:nvPr/>
        </p:nvSpPr>
        <p:spPr>
          <a:xfrm>
            <a:off x="4754880" y="3703320"/>
            <a:ext cx="3748680" cy="1371240"/>
          </a:xfrm>
          <a:prstGeom prst="roundRect">
            <a:avLst>
              <a:gd name="adj" fmla="val 8000"/>
            </a:avLst>
          </a:prstGeom>
          <a:solidFill>
            <a:srgbClr val="1620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2" name="Text 13"/>
          <p:cNvSpPr/>
          <p:nvPr/>
        </p:nvSpPr>
        <p:spPr>
          <a:xfrm>
            <a:off x="5029200" y="388620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0891b2"/>
                </a:solidFill>
                <a:latin typeface="Trebuchet MS"/>
                <a:ea typeface="Trebuchet MS"/>
              </a:rPr>
              <a:t>Relationship Mapping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3" name="Text 14"/>
          <p:cNvSpPr/>
          <p:nvPr/>
        </p:nvSpPr>
        <p:spPr>
          <a:xfrm>
            <a:off x="5029200" y="4297680"/>
            <a:ext cx="3200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Declare relationships between models.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Lazy/eager loading, cascades, joins.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f1b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Shape 0"/>
          <p:cNvSpPr/>
          <p:nvPr/>
        </p:nvSpPr>
        <p:spPr>
          <a:xfrm>
            <a:off x="0" y="0"/>
            <a:ext cx="72720" cy="5143320"/>
          </a:xfrm>
          <a:prstGeom prst="rect">
            <a:avLst/>
          </a:prstGeom>
          <a:solidFill>
            <a:srgbClr val="22d3ee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55" name="Image 0" descr="preencoded.png"/>
          <p:cNvPicPr/>
          <p:nvPr/>
        </p:nvPicPr>
        <p:blipFill>
          <a:blip r:embed="rId1"/>
          <a:stretch/>
        </p:blipFill>
        <p:spPr>
          <a:xfrm>
            <a:off x="274680" y="274680"/>
            <a:ext cx="639720" cy="639720"/>
          </a:xfrm>
          <a:prstGeom prst="rect">
            <a:avLst/>
          </a:prstGeom>
          <a:ln w="0">
            <a:noFill/>
          </a:ln>
        </p:spPr>
      </p:pic>
      <p:sp>
        <p:nvSpPr>
          <p:cNvPr id="56" name="Text 1"/>
          <p:cNvSpPr/>
          <p:nvPr/>
        </p:nvSpPr>
        <p:spPr>
          <a:xfrm>
            <a:off x="1143000" y="228600"/>
            <a:ext cx="6172200" cy="82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2600" spc="-1" strike="noStrike">
                <a:solidFill>
                  <a:srgbClr val="ffffff"/>
                </a:solidFill>
                <a:latin typeface="Trebuchet MS"/>
                <a:ea typeface="Trebuchet MS"/>
              </a:rPr>
              <a:t>Why Alembic?</a:t>
            </a:r>
            <a:endParaRPr b="0" lang="en-US" sz="2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7" name="Text 2"/>
          <p:cNvSpPr/>
          <p:nvPr/>
        </p:nvSpPr>
        <p:spPr>
          <a:xfrm>
            <a:off x="1143000" y="1234440"/>
            <a:ext cx="6720480" cy="45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i="1" lang="en-US" sz="1600" spc="-1" strike="noStrike">
                <a:solidFill>
                  <a:srgbClr val="cbd5e1"/>
                </a:solidFill>
                <a:latin typeface="Calibri"/>
                <a:ea typeface="Calibri"/>
              </a:rPr>
              <a:t>Database migrations done right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8" name="Shape 3"/>
          <p:cNvSpPr/>
          <p:nvPr/>
        </p:nvSpPr>
        <p:spPr>
          <a:xfrm>
            <a:off x="640080" y="2011680"/>
            <a:ext cx="3748680" cy="1371240"/>
          </a:xfrm>
          <a:prstGeom prst="roundRect">
            <a:avLst>
              <a:gd name="adj" fmla="val 8000"/>
            </a:avLst>
          </a:prstGeom>
          <a:solidFill>
            <a:srgbClr val="1620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59" name="Text 4"/>
          <p:cNvSpPr/>
          <p:nvPr/>
        </p:nvSpPr>
        <p:spPr>
          <a:xfrm>
            <a:off x="914400" y="219456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2d3ee"/>
                </a:solidFill>
                <a:latin typeface="Trebuchet MS"/>
                <a:ea typeface="Trebuchet MS"/>
              </a:rPr>
              <a:t>Auto-Generate Migrations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0" name="Text 5"/>
          <p:cNvSpPr/>
          <p:nvPr/>
        </p:nvSpPr>
        <p:spPr>
          <a:xfrm>
            <a:off x="914400" y="2606040"/>
            <a:ext cx="3200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Detects model changes and writes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migration scripts automatically.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1" name="Shape 6"/>
          <p:cNvSpPr/>
          <p:nvPr/>
        </p:nvSpPr>
        <p:spPr>
          <a:xfrm>
            <a:off x="4754880" y="2011680"/>
            <a:ext cx="3748680" cy="1371240"/>
          </a:xfrm>
          <a:prstGeom prst="roundRect">
            <a:avLst>
              <a:gd name="adj" fmla="val 8000"/>
            </a:avLst>
          </a:prstGeom>
          <a:solidFill>
            <a:srgbClr val="1620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2" name="Text 7"/>
          <p:cNvSpPr/>
          <p:nvPr/>
        </p:nvSpPr>
        <p:spPr>
          <a:xfrm>
            <a:off x="5029200" y="219456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2d3ee"/>
                </a:solidFill>
                <a:latin typeface="Trebuchet MS"/>
                <a:ea typeface="Trebuchet MS"/>
              </a:rPr>
              <a:t>Version Control for DB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3" name="Text 8"/>
          <p:cNvSpPr/>
          <p:nvPr/>
        </p:nvSpPr>
        <p:spPr>
          <a:xfrm>
            <a:off x="5029200" y="2606040"/>
            <a:ext cx="3200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Track every schema change.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Upgrade, downgrade, branch — like Git.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4" name="Shape 9"/>
          <p:cNvSpPr/>
          <p:nvPr/>
        </p:nvSpPr>
        <p:spPr>
          <a:xfrm>
            <a:off x="640080" y="3703320"/>
            <a:ext cx="3748680" cy="1371240"/>
          </a:xfrm>
          <a:prstGeom prst="roundRect">
            <a:avLst>
              <a:gd name="adj" fmla="val 8000"/>
            </a:avLst>
          </a:prstGeom>
          <a:solidFill>
            <a:srgbClr val="1620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5" name="Text 10"/>
          <p:cNvSpPr/>
          <p:nvPr/>
        </p:nvSpPr>
        <p:spPr>
          <a:xfrm>
            <a:off x="914400" y="388620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2d3ee"/>
                </a:solidFill>
                <a:latin typeface="Trebuchet MS"/>
                <a:ea typeface="Trebuchet MS"/>
              </a:rPr>
              <a:t>Safe Rollbacks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6" name="Text 11"/>
          <p:cNvSpPr/>
          <p:nvPr/>
        </p:nvSpPr>
        <p:spPr>
          <a:xfrm>
            <a:off x="914400" y="4297680"/>
            <a:ext cx="3200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Downgrade to any previous revision.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Test migrations before production.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7" name="Shape 12"/>
          <p:cNvSpPr/>
          <p:nvPr/>
        </p:nvSpPr>
        <p:spPr>
          <a:xfrm>
            <a:off x="4754880" y="3703320"/>
            <a:ext cx="3748680" cy="1371240"/>
          </a:xfrm>
          <a:prstGeom prst="roundRect">
            <a:avLst>
              <a:gd name="adj" fmla="val 8000"/>
            </a:avLst>
          </a:prstGeom>
          <a:solidFill>
            <a:srgbClr val="162035"/>
          </a:solidFill>
          <a:ln w="0">
            <a:noFill/>
          </a:ln>
          <a:effectLst>
            <a:outerShdw algn="bl" blurRad="101520" dir="8100000" dist="37674" kx="0" ky="0" rotWithShape="0" sx="100000" sy="100000">
              <a:srgbClr val="000000">
                <a:alpha val="3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endParaRPr b="0" lang="en-US" sz="18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8" name="Text 13"/>
          <p:cNvSpPr/>
          <p:nvPr/>
        </p:nvSpPr>
        <p:spPr>
          <a:xfrm>
            <a:off x="5029200" y="3886200"/>
            <a:ext cx="3200040" cy="365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1" lang="en-US" sz="1600" spc="-1" strike="noStrike">
                <a:solidFill>
                  <a:srgbClr val="22d3ee"/>
                </a:solidFill>
                <a:latin typeface="Trebuchet MS"/>
                <a:ea typeface="Trebuchet MS"/>
              </a:rPr>
              <a:t>Built for SQLAlchemy</a:t>
            </a:r>
            <a:endParaRPr b="0" lang="en-US" sz="1600" spc="-1" strike="noStrike">
              <a:solidFill>
                <a:srgbClr val="ffffff"/>
              </a:solidFill>
              <a:latin typeface="Arial"/>
            </a:endParaRPr>
          </a:p>
        </p:txBody>
      </p:sp>
      <p:sp>
        <p:nvSpPr>
          <p:cNvPr id="69" name="Text 14"/>
          <p:cNvSpPr/>
          <p:nvPr/>
        </p:nvSpPr>
        <p:spPr>
          <a:xfrm>
            <a:off x="5029200" y="4297680"/>
            <a:ext cx="320004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Native integration. Reads your models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  <a:p>
            <a:pPr>
              <a:lnSpc>
                <a:spcPct val="100000"/>
              </a:lnSpc>
              <a:tabLst>
                <a:tab algn="l" pos="0"/>
              </a:tabLst>
            </a:pPr>
            <a:r>
              <a:rPr b="0" lang="en-US" sz="1300" spc="-1" strike="noStrike">
                <a:solidFill>
                  <a:srgbClr val="e2e8f0"/>
                </a:solidFill>
                <a:latin typeface="Calibri"/>
                <a:ea typeface="Calibri"/>
              </a:rPr>
              <a:t>directly — zero extra configuration.</a:t>
            </a:r>
            <a:endParaRPr b="0" lang="en-US" sz="1300" spc="-1" strike="noStrike">
              <a:solidFill>
                <a:srgbClr val="ffffff"/>
              </a:solidFill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640" cy="71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700" spc="-1" strike="noStrike">
                <a:solidFill>
                  <a:srgbClr val="ffffff"/>
                </a:solidFill>
                <a:latin typeface="Noto Sans"/>
              </a:rPr>
              <a:t>Python Web Apps 101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graphicFrame>
        <p:nvGraphicFramePr>
          <p:cNvPr id="71" name=""/>
          <p:cNvGraphicFramePr/>
          <p:nvPr/>
        </p:nvGraphicFramePr>
        <p:xfrm>
          <a:off x="421200" y="1854000"/>
          <a:ext cx="9359640" cy="2661840"/>
        </p:xfrm>
        <a:graphic>
          <a:graphicData uri="http://schemas.openxmlformats.org/drawingml/2006/table">
            <a:tbl>
              <a:tblPr/>
              <a:tblGrid>
                <a:gridCol w="1695240"/>
                <a:gridCol w="2514960"/>
                <a:gridCol w="5149800"/>
              </a:tblGrid>
              <a:tr h="364320">
                <a:tc>
                  <a:txBody>
                    <a:bodyPr lIns="36000" rIns="36000" anchor="t">
                      <a:noAutofit/>
                    </a:bodyPr>
                    <a:p>
                      <a:pPr marL="91440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000000"/>
                          </a:solidFill>
                          <a:latin typeface="Arial"/>
                        </a:rPr>
                        <a:t>Tool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marL="91440">
                        <a:lnSpc>
                          <a:spcPct val="115000"/>
                        </a:lnSpc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2c3e50"/>
                          </a:solidFill>
                          <a:latin typeface="Noto Sans"/>
                        </a:rPr>
                        <a:t>Layer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marL="91440">
                        <a:lnSpc>
                          <a:spcPct val="115000"/>
                        </a:lnSpc>
                        <a:spcAft>
                          <a:spcPts val="1440"/>
                        </a:spcAft>
                        <a:tabLst>
                          <a:tab algn="l" pos="0"/>
                        </a:tabLst>
                      </a:pPr>
                      <a:r>
                        <a:rPr b="0" lang="en-US" sz="1800" spc="-1" strike="noStrike">
                          <a:solidFill>
                            <a:srgbClr val="2c3e50"/>
                          </a:solidFill>
                          <a:latin typeface="Noto Sans"/>
                        </a:rPr>
                        <a:t>Job</a:t>
                      </a:r>
                      <a:endParaRPr b="0" lang="en-US" sz="18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688320">
                <a:tc>
                  <a:txBody>
                    <a:bodyPr lIns="36000" rIns="36000" anchor="t">
                      <a:noAutofit/>
                    </a:bodyPr>
                    <a:p>
                      <a:pPr marL="91440">
                        <a:lnSpc>
                          <a:spcPct val="15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rgbClr val="2c3e50"/>
                          </a:solidFill>
                          <a:latin typeface="Noto Sans"/>
                        </a:rPr>
                        <a:t>SQLAlchemy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marL="91440">
                        <a:lnSpc>
                          <a:spcPct val="15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rgbClr val="2c3e50"/>
                          </a:solidFill>
                          <a:latin typeface="Noto Sans"/>
                        </a:rPr>
                        <a:t>Database access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marL="91440">
                        <a:lnSpc>
                          <a:spcPct val="15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rgbClr val="2c3e50"/>
                          </a:solidFill>
                          <a:latin typeface="Noto Sans"/>
                        </a:rPr>
                        <a:t>Maps Python classes → database tables (ORM)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18560">
                <a:tc>
                  <a:txBody>
                    <a:bodyPr lIns="36000" rIns="36000" anchor="t">
                      <a:noAutofit/>
                    </a:bodyPr>
                    <a:p>
                      <a:pPr marL="91440">
                        <a:lnSpc>
                          <a:spcPct val="150000"/>
                        </a:lnSpc>
                        <a:spcAft>
                          <a:spcPts val="289"/>
                        </a:spcAft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rgbClr val="2c3e50"/>
                          </a:solidFill>
                          <a:latin typeface="Noto Sans"/>
                        </a:rPr>
                        <a:t>Alembic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marL="91440">
                        <a:lnSpc>
                          <a:spcPct val="150000"/>
                        </a:lnSpc>
                        <a:spcBef>
                          <a:spcPts val="1655"/>
                        </a:spcBef>
                        <a:spcAft>
                          <a:spcPts val="1440"/>
                        </a:spcAft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rgbClr val="2c3e50"/>
                          </a:solidFill>
                          <a:latin typeface="Noto Sans"/>
                        </a:rPr>
                        <a:t>Schema management</a:t>
                      </a:r>
                      <a:r>
                        <a:rPr b="0" lang="en-US" sz="1400" spc="-1" strike="noStrike">
                          <a:solidFill>
                            <a:srgbClr val="2c3e50"/>
                          </a:solidFill>
                          <a:latin typeface="Noto Sans"/>
                        </a:rPr>
                        <a:t>	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marL="91440">
                        <a:lnSpc>
                          <a:spcPct val="150000"/>
                        </a:lnSpc>
                        <a:spcBef>
                          <a:spcPts val="1655"/>
                        </a:spcBef>
                        <a:spcAft>
                          <a:spcPts val="1440"/>
                        </a:spcAft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rgbClr val="2c3e50"/>
                          </a:solidFill>
                          <a:latin typeface="Noto Sans"/>
                        </a:rPr>
                        <a:t>Tracks and applies changes to the database structure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705960">
                <a:tc>
                  <a:txBody>
                    <a:bodyPr lIns="36000" rIns="36000" anchor="t">
                      <a:noAutofit/>
                    </a:bodyPr>
                    <a:p>
                      <a:pPr marL="91440">
                        <a:lnSpc>
                          <a:spcPct val="15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rgbClr val="2c3e50"/>
                          </a:solidFill>
                          <a:latin typeface="Noto Sans"/>
                        </a:rPr>
                        <a:t>FastAPI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marL="91440">
                        <a:lnSpc>
                          <a:spcPct val="150000"/>
                        </a:lnSpc>
                        <a:spcBef>
                          <a:spcPts val="1655"/>
                        </a:spcBef>
                        <a:spcAft>
                          <a:spcPts val="1440"/>
                        </a:spcAft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rgbClr val="2c3e50"/>
                          </a:solidFill>
                          <a:latin typeface="Noto Sans"/>
                        </a:rPr>
                        <a:t>HTTP layer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lIns="36000" rIns="36000" anchor="t">
                      <a:noAutofit/>
                    </a:bodyPr>
                    <a:p>
                      <a:pPr marL="91440">
                        <a:lnSpc>
                          <a:spcPct val="150000"/>
                        </a:lnSpc>
                        <a:tabLst>
                          <a:tab algn="l" pos="0"/>
                        </a:tabLst>
                      </a:pPr>
                      <a:r>
                        <a:rPr b="0" lang="en-US" sz="1400" spc="-1" strike="noStrike">
                          <a:solidFill>
                            <a:srgbClr val="2c3e50"/>
                          </a:solidFill>
                          <a:latin typeface="Noto Sans"/>
                        </a:rPr>
                        <a:t>Exposes your data as a REST API with automatic validation</a:t>
                      </a:r>
                      <a:endParaRPr b="0" lang="en-US" sz="1400" spc="-1" strike="noStrike">
                        <a:solidFill>
                          <a:srgbClr val="000000"/>
                        </a:solidFill>
                        <a:latin typeface="Arial"/>
                      </a:endParaRPr>
                    </a:p>
                  </a:txBody>
                  <a:tcPr anchor="t" marL="36000" marR="36000">
                    <a:lnL w="7200">
                      <a:solidFill>
                        <a:srgbClr val="000000"/>
                      </a:solidFill>
                      <a:prstDash val="solid"/>
                    </a:lnL>
                    <a:lnR w="7200">
                      <a:solidFill>
                        <a:srgbClr val="000000"/>
                      </a:solidFill>
                      <a:prstDash val="solid"/>
                    </a:lnR>
                    <a:lnT w="7200">
                      <a:solidFill>
                        <a:srgbClr val="000000"/>
                      </a:solidFill>
                      <a:prstDash val="solid"/>
                    </a:lnT>
                    <a:lnB w="720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B71921D-25E5-40AA-88E3-20D4EB5B40FA}" type="slidenum">
              <a:t>5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640" cy="71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700" spc="-1" strike="noStrike">
                <a:solidFill>
                  <a:srgbClr val="ffffff"/>
                </a:solidFill>
                <a:latin typeface="Noto Sans"/>
              </a:rPr>
              <a:t>Python Web Apps 101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3" name="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400400" y="1321560"/>
            <a:ext cx="7514640" cy="3935880"/>
          </a:xfrm>
          <a:prstGeom prst="rect">
            <a:avLst/>
          </a:prstGeom>
          <a:ln w="108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67E9FDF5-5052-4F1A-83C5-4BC0B6923BCB}" type="slidenum">
              <a:t>6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640" cy="71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700" spc="-1" strike="noStrike">
                <a:solidFill>
                  <a:srgbClr val="ffffff"/>
                </a:solidFill>
                <a:latin typeface="Noto Sans"/>
              </a:rPr>
              <a:t>SQLAlchemy ORM: The Core Idea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5" name="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1095840" y="1495800"/>
            <a:ext cx="8047800" cy="3533040"/>
          </a:xfrm>
          <a:prstGeom prst="rect">
            <a:avLst/>
          </a:prstGeom>
          <a:ln w="108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BDB0DC52-4E97-4D20-B748-282AB18CF581}" type="slidenum">
              <a:t>7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640" cy="71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700" spc="-1" strike="noStrike">
                <a:solidFill>
                  <a:srgbClr val="ffffff"/>
                </a:solidFill>
                <a:latin typeface="Noto Sans"/>
              </a:rPr>
              <a:t>Alembic - Installation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77" name="PlaceHolder 2"/>
          <p:cNvSpPr>
            <a:spLocks noGrp="1"/>
          </p:cNvSpPr>
          <p:nvPr>
            <p:ph/>
          </p:nvPr>
        </p:nvSpPr>
        <p:spPr>
          <a:xfrm>
            <a:off x="360000" y="1485000"/>
            <a:ext cx="9359640" cy="37796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2c3e50"/>
                </a:solidFill>
                <a:latin typeface="Noto Sans"/>
              </a:rPr>
              <a:t>pip install alembic sqlalchemy psycopg2-binary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r>
              <a:rPr b="1" lang="en-US" sz="1000" spc="-1" strike="noStrike">
                <a:solidFill>
                  <a:srgbClr val="2c3e50"/>
                </a:solidFill>
                <a:latin typeface="Noto Sans"/>
              </a:rPr>
              <a:t>alembic init alembic</a:t>
            </a:r>
            <a:br>
              <a:rPr sz="1000"/>
            </a:b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2c3e5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i="1" lang="en-US" sz="2100" spc="-1" strike="noStrike">
                <a:solidFill>
                  <a:srgbClr val="2c3e50"/>
                </a:solidFill>
                <a:latin typeface="Noto Sans"/>
              </a:rPr>
              <a:t>alembic.ini</a:t>
            </a:r>
            <a:r>
              <a:rPr b="0" lang="en-US" sz="2100" spc="-1" strike="noStrike">
                <a:solidFill>
                  <a:srgbClr val="2c3e50"/>
                </a:solidFill>
                <a:latin typeface="Noto Sans"/>
              </a:rPr>
              <a:t> — main config file (database URL, log settings)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2c3e5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i="1" lang="en-US" sz="2100" spc="-1" strike="noStrike">
                <a:solidFill>
                  <a:srgbClr val="2c3e50"/>
                </a:solidFill>
                <a:latin typeface="Noto Sans"/>
              </a:rPr>
              <a:t>alembic/env.py</a:t>
            </a:r>
            <a:r>
              <a:rPr b="0" lang="en-US" sz="2100" spc="-1" strike="noStrike">
                <a:solidFill>
                  <a:srgbClr val="2c3e50"/>
                </a:solidFill>
                <a:latin typeface="Noto Sans"/>
              </a:rPr>
              <a:t> — the script Alembic runs when generating or applying migrations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lvl="1" marL="864000" indent="-324000">
              <a:lnSpc>
                <a:spcPct val="100000"/>
              </a:lnSpc>
              <a:spcAft>
                <a:spcPts val="850"/>
              </a:spcAft>
              <a:buClr>
                <a:srgbClr val="2c3e50"/>
              </a:buClr>
              <a:buSzPct val="75000"/>
              <a:buFont typeface="Symbol" charset="2"/>
              <a:buChar char=""/>
              <a:tabLst>
                <a:tab algn="l" pos="0"/>
              </a:tabLst>
            </a:pPr>
            <a:r>
              <a:rPr b="0" i="1" lang="en-US" sz="2100" spc="-1" strike="noStrike">
                <a:solidFill>
                  <a:srgbClr val="2c3e50"/>
                </a:solidFill>
                <a:latin typeface="Noto Sans"/>
              </a:rPr>
              <a:t>alembic/versions/</a:t>
            </a:r>
            <a:r>
              <a:rPr b="0" lang="en-US" sz="2100" spc="-1" strike="noStrike">
                <a:solidFill>
                  <a:srgbClr val="2c3e50"/>
                </a:solidFill>
                <a:latin typeface="Noto Sans"/>
              </a:rPr>
              <a:t> — empty folder where migration files will live</a:t>
            </a:r>
            <a:endParaRPr b="0" lang="en-US" sz="2100" spc="-1" strike="noStrike">
              <a:solidFill>
                <a:srgbClr val="000000"/>
              </a:solidFill>
              <a:latin typeface="Arial"/>
            </a:endParaRPr>
          </a:p>
          <a:p>
            <a:pPr marL="432000" indent="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algn="l" pos="0"/>
              </a:tabLst>
            </a:pP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2672047A-A949-4451-A211-DC8C501A2680}" type="slidenum">
              <a:t>8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640" cy="71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700" spc="-1" strike="noStrike">
                <a:solidFill>
                  <a:srgbClr val="ffffff"/>
                </a:solidFill>
                <a:latin typeface="Noto Sans"/>
              </a:rPr>
              <a:t>Alembic - Commands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79" name="" descr=""/>
          <p:cNvPicPr/>
          <p:nvPr/>
        </p:nvPicPr>
        <p:blipFill>
          <a:blip r:embed="rId1"/>
          <a:stretch/>
        </p:blipFill>
        <p:spPr>
          <a:xfrm>
            <a:off x="2177640" y="1868040"/>
            <a:ext cx="5770440" cy="2713320"/>
          </a:xfrm>
          <a:prstGeom prst="rect">
            <a:avLst/>
          </a:prstGeom>
          <a:ln w="108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1C88C189-025E-415A-93FE-640FF17168D2}" type="slidenum">
              <a:t>9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640" cy="71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700" spc="-1" strike="noStrike">
                <a:solidFill>
                  <a:srgbClr val="ffffff"/>
                </a:solidFill>
                <a:latin typeface="Noto Sans"/>
              </a:rPr>
              <a:t>Alembic – Migration Workflow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1" name="" descr=""/>
          <p:cNvPicPr/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/>
        </p:blipFill>
        <p:spPr>
          <a:xfrm>
            <a:off x="4127400" y="3325320"/>
            <a:ext cx="360" cy="360"/>
          </a:xfrm>
          <a:prstGeom prst="rect">
            <a:avLst/>
          </a:prstGeom>
          <a:ln w="10800">
            <a:noFill/>
          </a:ln>
        </p:spPr>
      </p:pic>
      <p:pic>
        <p:nvPicPr>
          <p:cNvPr id="82" name="" descr=""/>
          <p:cNvPicPr/>
          <p:nvPr/>
        </p:nvPicPr>
        <p:blipFill>
          <a:blip r:embed="rId3"/>
          <a:stretch/>
        </p:blipFill>
        <p:spPr>
          <a:xfrm>
            <a:off x="0" y="1828800"/>
            <a:ext cx="10079280" cy="2679840"/>
          </a:xfrm>
          <a:prstGeom prst="rect">
            <a:avLst/>
          </a:prstGeom>
          <a:ln w="108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EC8BB87A-C1FC-4960-B1DC-9E58CBD8A0D0}" type="slidenum">
              <a:t>10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640" cy="71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700" spc="-1" strike="noStrike">
                <a:solidFill>
                  <a:srgbClr val="ffffff"/>
                </a:solidFill>
                <a:latin typeface="Noto Sans"/>
              </a:rPr>
              <a:t>Pydantic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1828800" y="1600200"/>
            <a:ext cx="6400440" cy="3200040"/>
          </a:xfrm>
          <a:prstGeom prst="rect">
            <a:avLst/>
          </a:prstGeom>
          <a:noFill/>
          <a:ln w="1080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2c3e50"/>
                </a:solidFill>
                <a:latin typeface="Courier New"/>
                <a:ea typeface="Courier New"/>
              </a:rPr>
              <a:t>SQLAlchemy model (models.py)     ≠     Pydantic schema (schemas.py)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2c3e50"/>
                </a:solidFill>
                <a:latin typeface="Courier New"/>
                <a:ea typeface="Courier New"/>
              </a:rPr>
              <a:t>User ORM model                         UserResponse schema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2c3e50"/>
                </a:solidFill>
                <a:latin typeface="Courier New"/>
                <a:ea typeface="Courier New"/>
              </a:rPr>
              <a:t>  → </a:t>
            </a:r>
            <a:r>
              <a:rPr b="0" lang="en-US" sz="1000" spc="-1" strike="noStrike">
                <a:solidFill>
                  <a:srgbClr val="2c3e50"/>
                </a:solidFill>
                <a:latin typeface="Courier New"/>
                <a:ea typeface="Courier New"/>
              </a:rPr>
              <a:t>represents a database row            → represents what the API returns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2c3e50"/>
                </a:solidFill>
                <a:latin typeface="Courier New"/>
                <a:ea typeface="Courier New"/>
              </a:rPr>
              <a:t>  → </a:t>
            </a:r>
            <a:r>
              <a:rPr b="0" lang="en-US" sz="1000" spc="-1" strike="noStrike">
                <a:solidFill>
                  <a:srgbClr val="2c3e50"/>
                </a:solidFill>
                <a:latin typeface="Courier New"/>
                <a:ea typeface="Courier New"/>
              </a:rPr>
              <a:t>has relationships, lazy loading      → is a clean, serializable dict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  <a:p>
            <a:pPr>
              <a:lnSpc>
                <a:spcPct val="100000"/>
              </a:lnSpc>
            </a:pPr>
            <a:r>
              <a:rPr b="0" lang="en-US" sz="1000" spc="-1" strike="noStrike">
                <a:solidFill>
                  <a:srgbClr val="2c3e50"/>
                </a:solidFill>
                <a:latin typeface="Courier New"/>
                <a:ea typeface="Courier New"/>
              </a:rPr>
              <a:t>  → </a:t>
            </a:r>
            <a:r>
              <a:rPr b="0" lang="en-US" sz="1000" spc="-1" strike="noStrike">
                <a:solidFill>
                  <a:srgbClr val="2c3e50"/>
                </a:solidFill>
                <a:latin typeface="Courier New"/>
                <a:ea typeface="Courier New"/>
              </a:rPr>
              <a:t>tied to a DB session                 → knows nothing about the database</a:t>
            </a:r>
            <a:endParaRPr b="0" lang="en-US" sz="1000" spc="-1" strike="noStrike">
              <a:solidFill>
                <a:srgbClr val="000000"/>
              </a:solidFill>
              <a:latin typeface="Arial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C282EFE1-FD64-4724-B2DF-7047D61F96BD}" type="slidenum">
              <a:t>11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PlaceHolder 1"/>
          <p:cNvSpPr>
            <a:spLocks noGrp="1"/>
          </p:cNvSpPr>
          <p:nvPr>
            <p:ph type="title"/>
          </p:nvPr>
        </p:nvSpPr>
        <p:spPr>
          <a:xfrm>
            <a:off x="360000" y="225720"/>
            <a:ext cx="9359640" cy="718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700" spc="-1" strike="noStrike">
                <a:solidFill>
                  <a:srgbClr val="ffffff"/>
                </a:solidFill>
                <a:latin typeface="Noto Sans"/>
              </a:rPr>
              <a:t>Thank You!</a:t>
            </a:r>
            <a:r>
              <a:rPr b="1" lang="en-US" sz="2700" spc="-1" strike="noStrike">
                <a:solidFill>
                  <a:srgbClr val="ffffff"/>
                </a:solidFill>
                <a:latin typeface="Noto Sans"/>
              </a:rPr>
              <a:t>	</a:t>
            </a:r>
            <a:endParaRPr b="0" lang="en-US" sz="2700" spc="-1" strike="noStrike">
              <a:solidFill>
                <a:srgbClr val="000000"/>
              </a:solidFill>
              <a:latin typeface="Arial"/>
            </a:endParaRPr>
          </a:p>
        </p:txBody>
      </p:sp>
      <p:pic>
        <p:nvPicPr>
          <p:cNvPr id="86" name="" descr=""/>
          <p:cNvPicPr/>
          <p:nvPr/>
        </p:nvPicPr>
        <p:blipFill>
          <a:blip r:embed="rId1"/>
          <a:stretch/>
        </p:blipFill>
        <p:spPr>
          <a:xfrm>
            <a:off x="3782160" y="1672560"/>
            <a:ext cx="2561400" cy="3104280"/>
          </a:xfrm>
          <a:prstGeom prst="rect">
            <a:avLst/>
          </a:prstGeom>
          <a:ln w="10800">
            <a:noFill/>
          </a:ln>
        </p:spPr>
      </p:pic>
      <p:sp>
        <p:nvSpPr>
          <p:cNvPr id="3" name="PlaceHolder 2"/>
          <p:cNvSpPr>
            <a:spLocks noGrp="1"/>
          </p:cNvSpPr>
          <p:nvPr>
            <p:ph type="sldNum" idx="2"/>
          </p:nvPr>
        </p:nvSpPr>
        <p:spPr/>
        <p:txBody>
          <a:bodyPr/>
          <a:p>
            <a:fld id="{49DB8B0D-6605-4577-A5A0-6BAEFEF5FAE7}" type="slidenum">
              <a:t>12</a:t>
            </a:fld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101</TotalTime>
  <Application>LibreOffice/24.2.7.2$Linux_X86_64 LibreOffice_project/420$Build-2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2026-02-23T12:52:07Z</dcterms:created>
  <dc:creator/>
  <dc:description/>
  <dc:language>en-US</dc:language>
  <cp:lastModifiedBy/>
  <dcterms:modified xsi:type="dcterms:W3CDTF">2026-03-05T14:54:53Z</dcterms:modified>
  <cp:revision>16</cp:revision>
  <dc:subject/>
  <dc:title>Midnightblue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