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svg" ContentType="image/svg"/>
  <Override PartName="/ppt/media/image8.png" ContentType="image/png"/>
  <Override PartName="/ppt/media/image12.png" ContentType="image/png"/>
  <Override PartName="/ppt/media/image6.png" ContentType="image/png"/>
  <Override PartName="/ppt/media/image7.svg" ContentType="image/svg"/>
  <Override PartName="/ppt/media/image9.png" ContentType="image/png"/>
  <Override PartName="/ppt/media/image10.svg" ContentType="image/svg"/>
  <Override PartName="/ppt/media/image1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59280" cy="37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29284EF-04A0-49E5-8C0D-38C9F9D537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360000" y="1485000"/>
            <a:ext cx="9359280" cy="37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5E734DE-6CD4-418A-BD65-BAF162A706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5400000"/>
            <a:ext cx="10079280" cy="269280"/>
          </a:xfrm>
          <a:prstGeom prst="rect">
            <a:avLst/>
          </a:prstGeom>
          <a:solidFill>
            <a:srgbClr val="2c3e50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2c3e50"/>
              </a:solidFill>
              <a:latin typeface="Noto Sans"/>
              <a:ea typeface="DejaVu Sans"/>
            </a:endParaRPr>
          </a:p>
        </p:txBody>
      </p:sp>
      <p:sp>
        <p:nvSpPr>
          <p:cNvPr id="1" name=""/>
          <p:cNvSpPr/>
          <p:nvPr/>
        </p:nvSpPr>
        <p:spPr>
          <a:xfrm>
            <a:off x="0" y="0"/>
            <a:ext cx="10079280" cy="1214280"/>
          </a:xfrm>
          <a:prstGeom prst="rect">
            <a:avLst/>
          </a:prstGeom>
          <a:solidFill>
            <a:srgbClr val="2c3e50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2c3e50"/>
              </a:solidFill>
              <a:latin typeface="Noto Sans"/>
              <a:ea typeface="DejaVu Sans"/>
            </a:endParaRPr>
          </a:p>
        </p:txBody>
      </p:sp>
      <p:sp>
        <p:nvSpPr>
          <p:cNvPr id="2" name=""/>
          <p:cNvSpPr/>
          <p:nvPr/>
        </p:nvSpPr>
        <p:spPr>
          <a:xfrm>
            <a:off x="9315000" y="5175000"/>
            <a:ext cx="449280" cy="449280"/>
          </a:xfrm>
          <a:prstGeom prst="ellipse">
            <a:avLst/>
          </a:prstGeom>
          <a:solidFill>
            <a:srgbClr val="1abc9c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2c3e50"/>
              </a:solidFill>
              <a:latin typeface="Noto Sans"/>
              <a:ea typeface="DejaVu Sans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60000" y="1485000"/>
            <a:ext cx="9359280" cy="37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1"/>
          </p:nvPr>
        </p:nvSpPr>
        <p:spPr>
          <a:xfrm>
            <a:off x="3420000" y="5400000"/>
            <a:ext cx="3239280" cy="2692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1800" spc="-1" strike="noStrike">
                <a:solidFill>
                  <a:srgbClr val="ffffff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Noto Sans"/>
              </a:rPr>
              <a:t>&lt;footer&gt;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2"/>
          </p:nvPr>
        </p:nvSpPr>
        <p:spPr>
          <a:xfrm>
            <a:off x="9180000" y="5175000"/>
            <a:ext cx="719280" cy="4492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1800" spc="-1" strike="noStrike">
                <a:solidFill>
                  <a:srgbClr val="ffffff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315BB90-2DF1-4C11-ADA6-4FDDA47451E4}" type="slidenum">
              <a:rPr b="1" lang="en-US" sz="1800" spc="-1" strike="noStrike">
                <a:solidFill>
                  <a:srgbClr val="ffffff"/>
                </a:solidFill>
                <a:latin typeface="Noto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dt" idx="3"/>
          </p:nvPr>
        </p:nvSpPr>
        <p:spPr>
          <a:xfrm>
            <a:off x="360000" y="5400000"/>
            <a:ext cx="2879280" cy="2692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0" y="5400000"/>
            <a:ext cx="10079280" cy="269280"/>
          </a:xfrm>
          <a:prstGeom prst="rect">
            <a:avLst/>
          </a:prstGeom>
          <a:solidFill>
            <a:srgbClr val="2c3e50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2c3e50"/>
              </a:solidFill>
              <a:latin typeface="Noto Sans"/>
              <a:ea typeface="DejaVu Sans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10079280" cy="1214280"/>
          </a:xfrm>
          <a:prstGeom prst="rect">
            <a:avLst/>
          </a:prstGeom>
          <a:solidFill>
            <a:srgbClr val="2c3e50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2c3e50"/>
              </a:solidFill>
              <a:latin typeface="Noto Sans"/>
              <a:ea typeface="DejaVu Sans"/>
            </a:endParaRPr>
          </a:p>
        </p:txBody>
      </p:sp>
      <p:sp>
        <p:nvSpPr>
          <p:cNvPr id="12" name=""/>
          <p:cNvSpPr/>
          <p:nvPr/>
        </p:nvSpPr>
        <p:spPr>
          <a:xfrm>
            <a:off x="9315000" y="5175000"/>
            <a:ext cx="449280" cy="449280"/>
          </a:xfrm>
          <a:prstGeom prst="ellipse">
            <a:avLst/>
          </a:prstGeom>
          <a:solidFill>
            <a:srgbClr val="1abc9c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2c3e50"/>
              </a:solidFill>
              <a:latin typeface="Noto Sans"/>
              <a:ea typeface="DejaVu Sans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ftr" idx="4"/>
          </p:nvPr>
        </p:nvSpPr>
        <p:spPr>
          <a:xfrm>
            <a:off x="3420000" y="5400000"/>
            <a:ext cx="3239280" cy="2692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1800" spc="-1" strike="noStrike">
                <a:solidFill>
                  <a:srgbClr val="ffffff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Noto Sans"/>
              </a:rPr>
              <a:t>&lt;footer&gt;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5"/>
          </p:nvPr>
        </p:nvSpPr>
        <p:spPr>
          <a:xfrm>
            <a:off x="9180000" y="5175000"/>
            <a:ext cx="719280" cy="4492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1800" spc="-1" strike="noStrike">
                <a:solidFill>
                  <a:srgbClr val="ffffff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5E0D935-A3FA-4DEE-B51A-D4DE41D22F58}" type="slidenum">
              <a:rPr b="1" lang="en-US" sz="1800" spc="-1" strike="noStrike">
                <a:solidFill>
                  <a:srgbClr val="ffffff"/>
                </a:solidFill>
                <a:latin typeface="Noto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6"/>
          </p:nvPr>
        </p:nvSpPr>
        <p:spPr>
          <a:xfrm>
            <a:off x="360000" y="5400000"/>
            <a:ext cx="2879280" cy="2692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sv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sv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sv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Noto Sans"/>
              </a:rPr>
              <a:t>Python Trio: Alembic, SQLAlchemy &amp; FastAPI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360000" y="1485000"/>
            <a:ext cx="9359280" cy="37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2c3e50"/>
                </a:solidFill>
                <a:latin typeface="Noto Sans"/>
              </a:rPr>
              <a:t>A Practical Introduction to the Python Ecosystem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1C085FE-0D78-46D9-9B17-7F86E8E2BAE6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f5c5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23" name="Image 0" descr="preencoded.png"/>
          <p:cNvPicPr/>
          <p:nvPr/>
        </p:nvPicPr>
        <p:blipFill>
          <a:blip r:embed="rId1"/>
          <a:stretch/>
        </p:blipFill>
        <p:spPr>
          <a:xfrm>
            <a:off x="274680" y="27468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24" name="Text 1"/>
          <p:cNvSpPr/>
          <p:nvPr/>
        </p:nvSpPr>
        <p:spPr>
          <a:xfrm>
            <a:off x="1143000" y="228600"/>
            <a:ext cx="61718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Noto Sans"/>
                <a:ea typeface="Trebuchet MS"/>
              </a:rPr>
              <a:t>Why FastAPI?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2"/>
          <p:cNvSpPr/>
          <p:nvPr/>
        </p:nvSpPr>
        <p:spPr>
          <a:xfrm>
            <a:off x="1143000" y="1234440"/>
            <a:ext cx="6720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cbd5e1"/>
                </a:solidFill>
                <a:latin typeface="Calibri"/>
                <a:ea typeface="Calibri"/>
              </a:rPr>
              <a:t>Modern, fast, developer-friendly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3"/>
          <p:cNvSpPr/>
          <p:nvPr/>
        </p:nvSpPr>
        <p:spPr>
          <a:xfrm>
            <a:off x="640080" y="2011680"/>
            <a:ext cx="3748320" cy="1370880"/>
          </a:xfrm>
          <a:prstGeom prst="roundRect">
            <a:avLst>
              <a:gd name="adj" fmla="val 8000"/>
            </a:avLst>
          </a:prstGeom>
          <a:solidFill>
            <a:srgbClr val="1620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7" name="Text 4"/>
          <p:cNvSpPr/>
          <p:nvPr/>
        </p:nvSpPr>
        <p:spPr>
          <a:xfrm>
            <a:off x="914400" y="219456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5c518"/>
                </a:solidFill>
                <a:latin typeface="Trebuchet MS"/>
                <a:ea typeface="Trebuchet MS"/>
              </a:rPr>
              <a:t>Async &amp; Blazing Fast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914400" y="2606040"/>
            <a:ext cx="3199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Built on Starlette and Pydantic.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One of the fastest Python frameworks available.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6"/>
          <p:cNvSpPr/>
          <p:nvPr/>
        </p:nvSpPr>
        <p:spPr>
          <a:xfrm>
            <a:off x="4754880" y="2011680"/>
            <a:ext cx="3748320" cy="1370880"/>
          </a:xfrm>
          <a:prstGeom prst="roundRect">
            <a:avLst>
              <a:gd name="adj" fmla="val 8000"/>
            </a:avLst>
          </a:prstGeom>
          <a:solidFill>
            <a:srgbClr val="1620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0" name="Text 7"/>
          <p:cNvSpPr/>
          <p:nvPr/>
        </p:nvSpPr>
        <p:spPr>
          <a:xfrm>
            <a:off x="5029200" y="219456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5c518"/>
                </a:solidFill>
                <a:latin typeface="Trebuchet MS"/>
                <a:ea typeface="Trebuchet MS"/>
              </a:rPr>
              <a:t>Auto-Generated Docs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8"/>
          <p:cNvSpPr/>
          <p:nvPr/>
        </p:nvSpPr>
        <p:spPr>
          <a:xfrm>
            <a:off x="5029200" y="2606040"/>
            <a:ext cx="3199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Swagger UI &amp; ReDoc out of the box.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Interactive API exploration for free.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9"/>
          <p:cNvSpPr/>
          <p:nvPr/>
        </p:nvSpPr>
        <p:spPr>
          <a:xfrm>
            <a:off x="640080" y="3703320"/>
            <a:ext cx="3748320" cy="1370880"/>
          </a:xfrm>
          <a:prstGeom prst="roundRect">
            <a:avLst>
              <a:gd name="adj" fmla="val 8000"/>
            </a:avLst>
          </a:prstGeom>
          <a:solidFill>
            <a:srgbClr val="1620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3" name="Text 10"/>
          <p:cNvSpPr/>
          <p:nvPr/>
        </p:nvSpPr>
        <p:spPr>
          <a:xfrm>
            <a:off x="914400" y="388620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5c518"/>
                </a:solidFill>
                <a:latin typeface="Trebuchet MS"/>
                <a:ea typeface="Trebuchet MS"/>
              </a:rPr>
              <a:t>Type Safety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11"/>
          <p:cNvSpPr/>
          <p:nvPr/>
        </p:nvSpPr>
        <p:spPr>
          <a:xfrm>
            <a:off x="914400" y="4297680"/>
            <a:ext cx="3199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Python type hints drive validation,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serialization, and editor support.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12"/>
          <p:cNvSpPr/>
          <p:nvPr/>
        </p:nvSpPr>
        <p:spPr>
          <a:xfrm>
            <a:off x="4754880" y="3703320"/>
            <a:ext cx="3748320" cy="1370880"/>
          </a:xfrm>
          <a:prstGeom prst="roundRect">
            <a:avLst>
              <a:gd name="adj" fmla="val 8000"/>
            </a:avLst>
          </a:prstGeom>
          <a:solidFill>
            <a:srgbClr val="1620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5029200" y="388620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5c518"/>
                </a:solidFill>
                <a:latin typeface="Trebuchet MS"/>
                <a:ea typeface="Trebuchet MS"/>
              </a:rPr>
              <a:t>Easy to Learn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5029200" y="4297680"/>
            <a:ext cx="3199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Minimal boilerplate. Intuitive decorators.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Productive from day one.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/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39" name="Image 0" descr="preencoded.png"/>
          <p:cNvPicPr/>
          <p:nvPr/>
        </p:nvPicPr>
        <p:blipFill>
          <a:blip r:embed="rId1"/>
          <a:stretch/>
        </p:blipFill>
        <p:spPr>
          <a:xfrm>
            <a:off x="274680" y="27468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40" name="Text 1"/>
          <p:cNvSpPr/>
          <p:nvPr/>
        </p:nvSpPr>
        <p:spPr>
          <a:xfrm>
            <a:off x="1143000" y="228600"/>
            <a:ext cx="64000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Trebuchet MS"/>
                <a:ea typeface="Trebuchet MS"/>
              </a:rPr>
              <a:t>Why SQLAlchemy?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2"/>
          <p:cNvSpPr/>
          <p:nvPr/>
        </p:nvSpPr>
        <p:spPr>
          <a:xfrm>
            <a:off x="1143360" y="123444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cbd5e1"/>
                </a:solidFill>
                <a:latin typeface="Calibri"/>
                <a:ea typeface="Calibri"/>
              </a:rPr>
              <a:t>The Python SQL toolkit and ORM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"/>
          <p:cNvSpPr/>
          <p:nvPr/>
        </p:nvSpPr>
        <p:spPr>
          <a:xfrm>
            <a:off x="640080" y="2011680"/>
            <a:ext cx="3748320" cy="1370880"/>
          </a:xfrm>
          <a:prstGeom prst="roundRect">
            <a:avLst>
              <a:gd name="adj" fmla="val 8000"/>
            </a:avLst>
          </a:prstGeom>
          <a:solidFill>
            <a:srgbClr val="1620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3" name="Text 4"/>
          <p:cNvSpPr/>
          <p:nvPr/>
        </p:nvSpPr>
        <p:spPr>
          <a:xfrm>
            <a:off x="914400" y="219456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891b2"/>
                </a:solidFill>
                <a:latin typeface="Trebuchet MS"/>
                <a:ea typeface="Trebuchet MS"/>
              </a:rPr>
              <a:t>Mature &amp; Battle-Tested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914400" y="2606040"/>
            <a:ext cx="3199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15+ years of production use.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The standard for Python database access.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6"/>
          <p:cNvSpPr/>
          <p:nvPr/>
        </p:nvSpPr>
        <p:spPr>
          <a:xfrm>
            <a:off x="4754880" y="2011680"/>
            <a:ext cx="3748320" cy="1370880"/>
          </a:xfrm>
          <a:prstGeom prst="roundRect">
            <a:avLst>
              <a:gd name="adj" fmla="val 8000"/>
            </a:avLst>
          </a:prstGeom>
          <a:solidFill>
            <a:srgbClr val="1620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6" name="Text 7"/>
          <p:cNvSpPr/>
          <p:nvPr/>
        </p:nvSpPr>
        <p:spPr>
          <a:xfrm>
            <a:off x="5029200" y="219456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891b2"/>
                </a:solidFill>
                <a:latin typeface="Trebuchet MS"/>
                <a:ea typeface="Trebuchet MS"/>
              </a:rPr>
              <a:t>ORM + Core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5029200" y="2606040"/>
            <a:ext cx="3199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Use high-level ORM models or drop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to raw SQL — your choice per query.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9"/>
          <p:cNvSpPr/>
          <p:nvPr/>
        </p:nvSpPr>
        <p:spPr>
          <a:xfrm>
            <a:off x="640080" y="3703320"/>
            <a:ext cx="3748320" cy="1370880"/>
          </a:xfrm>
          <a:prstGeom prst="roundRect">
            <a:avLst>
              <a:gd name="adj" fmla="val 8000"/>
            </a:avLst>
          </a:prstGeom>
          <a:solidFill>
            <a:srgbClr val="1620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9" name="Text 10"/>
          <p:cNvSpPr/>
          <p:nvPr/>
        </p:nvSpPr>
        <p:spPr>
          <a:xfrm>
            <a:off x="914400" y="388620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891b2"/>
                </a:solidFill>
                <a:latin typeface="Trebuchet MS"/>
                <a:ea typeface="Trebuchet MS"/>
              </a:rPr>
              <a:t>Database Agnostic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11"/>
          <p:cNvSpPr/>
          <p:nvPr/>
        </p:nvSpPr>
        <p:spPr>
          <a:xfrm>
            <a:off x="914400" y="4297680"/>
            <a:ext cx="3199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PostgreSQL, MySQL, SQLite and more.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Switch engines without rewriting code.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12"/>
          <p:cNvSpPr/>
          <p:nvPr/>
        </p:nvSpPr>
        <p:spPr>
          <a:xfrm>
            <a:off x="4754880" y="3703320"/>
            <a:ext cx="3748320" cy="1370880"/>
          </a:xfrm>
          <a:prstGeom prst="roundRect">
            <a:avLst>
              <a:gd name="adj" fmla="val 8000"/>
            </a:avLst>
          </a:prstGeom>
          <a:solidFill>
            <a:srgbClr val="1620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2" name="Text 13"/>
          <p:cNvSpPr/>
          <p:nvPr/>
        </p:nvSpPr>
        <p:spPr>
          <a:xfrm>
            <a:off x="5029200" y="388620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891b2"/>
                </a:solidFill>
                <a:latin typeface="Trebuchet MS"/>
                <a:ea typeface="Trebuchet MS"/>
              </a:rPr>
              <a:t>Relationship Mapping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14"/>
          <p:cNvSpPr/>
          <p:nvPr/>
        </p:nvSpPr>
        <p:spPr>
          <a:xfrm>
            <a:off x="5029200" y="4297680"/>
            <a:ext cx="3199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Declare relationships between models.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Lazy/eager loading, cascades, joins.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55" name="Image 0" descr="preencoded.png"/>
          <p:cNvPicPr/>
          <p:nvPr/>
        </p:nvPicPr>
        <p:blipFill>
          <a:blip r:embed="rId1"/>
          <a:stretch/>
        </p:blipFill>
        <p:spPr>
          <a:xfrm>
            <a:off x="274680" y="27468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56" name="Text 1"/>
          <p:cNvSpPr/>
          <p:nvPr/>
        </p:nvSpPr>
        <p:spPr>
          <a:xfrm>
            <a:off x="1143000" y="228600"/>
            <a:ext cx="61718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Trebuchet MS"/>
                <a:ea typeface="Trebuchet MS"/>
              </a:rPr>
              <a:t>Why Alembic?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2"/>
          <p:cNvSpPr/>
          <p:nvPr/>
        </p:nvSpPr>
        <p:spPr>
          <a:xfrm>
            <a:off x="1143000" y="1234440"/>
            <a:ext cx="6720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cbd5e1"/>
                </a:solidFill>
                <a:latin typeface="Calibri"/>
                <a:ea typeface="Calibri"/>
              </a:rPr>
              <a:t>Database migrations done right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3"/>
          <p:cNvSpPr/>
          <p:nvPr/>
        </p:nvSpPr>
        <p:spPr>
          <a:xfrm>
            <a:off x="640080" y="2011680"/>
            <a:ext cx="3748320" cy="1370880"/>
          </a:xfrm>
          <a:prstGeom prst="roundRect">
            <a:avLst>
              <a:gd name="adj" fmla="val 8000"/>
            </a:avLst>
          </a:prstGeom>
          <a:solidFill>
            <a:srgbClr val="1620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9" name="Text 4"/>
          <p:cNvSpPr/>
          <p:nvPr/>
        </p:nvSpPr>
        <p:spPr>
          <a:xfrm>
            <a:off x="914400" y="219456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2d3ee"/>
                </a:solidFill>
                <a:latin typeface="Trebuchet MS"/>
                <a:ea typeface="Trebuchet MS"/>
              </a:rPr>
              <a:t>Auto-Generate Migrations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914400" y="2606040"/>
            <a:ext cx="3199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Detects model changes and writes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migration scripts automatically.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6"/>
          <p:cNvSpPr/>
          <p:nvPr/>
        </p:nvSpPr>
        <p:spPr>
          <a:xfrm>
            <a:off x="4754880" y="2011680"/>
            <a:ext cx="3748320" cy="1370880"/>
          </a:xfrm>
          <a:prstGeom prst="roundRect">
            <a:avLst>
              <a:gd name="adj" fmla="val 8000"/>
            </a:avLst>
          </a:prstGeom>
          <a:solidFill>
            <a:srgbClr val="1620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2" name="Text 7"/>
          <p:cNvSpPr/>
          <p:nvPr/>
        </p:nvSpPr>
        <p:spPr>
          <a:xfrm>
            <a:off x="5029200" y="219456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2d3ee"/>
                </a:solidFill>
                <a:latin typeface="Trebuchet MS"/>
                <a:ea typeface="Trebuchet MS"/>
              </a:rPr>
              <a:t>Version Control for DB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8"/>
          <p:cNvSpPr/>
          <p:nvPr/>
        </p:nvSpPr>
        <p:spPr>
          <a:xfrm>
            <a:off x="5029200" y="2606040"/>
            <a:ext cx="3199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Track every schema change.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Upgrade, downgrade, branch — like Git.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9"/>
          <p:cNvSpPr/>
          <p:nvPr/>
        </p:nvSpPr>
        <p:spPr>
          <a:xfrm>
            <a:off x="640080" y="3703320"/>
            <a:ext cx="3748320" cy="1370880"/>
          </a:xfrm>
          <a:prstGeom prst="roundRect">
            <a:avLst>
              <a:gd name="adj" fmla="val 8000"/>
            </a:avLst>
          </a:prstGeom>
          <a:solidFill>
            <a:srgbClr val="1620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5" name="Text 10"/>
          <p:cNvSpPr/>
          <p:nvPr/>
        </p:nvSpPr>
        <p:spPr>
          <a:xfrm>
            <a:off x="914400" y="388620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2d3ee"/>
                </a:solidFill>
                <a:latin typeface="Trebuchet MS"/>
                <a:ea typeface="Trebuchet MS"/>
              </a:rPr>
              <a:t>Safe Rollbacks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11"/>
          <p:cNvSpPr/>
          <p:nvPr/>
        </p:nvSpPr>
        <p:spPr>
          <a:xfrm>
            <a:off x="914400" y="4297680"/>
            <a:ext cx="3199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Downgrade to any previous revision.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Test migrations before production.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12"/>
          <p:cNvSpPr/>
          <p:nvPr/>
        </p:nvSpPr>
        <p:spPr>
          <a:xfrm>
            <a:off x="4754880" y="3703320"/>
            <a:ext cx="3748320" cy="1370880"/>
          </a:xfrm>
          <a:prstGeom prst="roundRect">
            <a:avLst>
              <a:gd name="adj" fmla="val 8000"/>
            </a:avLst>
          </a:prstGeom>
          <a:solidFill>
            <a:srgbClr val="1620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8" name="Text 13"/>
          <p:cNvSpPr/>
          <p:nvPr/>
        </p:nvSpPr>
        <p:spPr>
          <a:xfrm>
            <a:off x="5029200" y="388620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2d3ee"/>
                </a:solidFill>
                <a:latin typeface="Trebuchet MS"/>
                <a:ea typeface="Trebuchet MS"/>
              </a:rPr>
              <a:t>Built for SQLAlchemy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14"/>
          <p:cNvSpPr/>
          <p:nvPr/>
        </p:nvSpPr>
        <p:spPr>
          <a:xfrm>
            <a:off x="5029200" y="4297680"/>
            <a:ext cx="3199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Native integration. Reads your models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directly — zero extra configuration.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Noto Sans"/>
              </a:rPr>
              <a:t>Python Web Apps 101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1" name=""/>
          <p:cNvGraphicFramePr/>
          <p:nvPr/>
        </p:nvGraphicFramePr>
        <p:xfrm>
          <a:off x="421200" y="1854000"/>
          <a:ext cx="9359640" cy="2661840"/>
        </p:xfrm>
        <a:graphic>
          <a:graphicData uri="http://schemas.openxmlformats.org/drawingml/2006/table">
            <a:tbl>
              <a:tblPr/>
              <a:tblGrid>
                <a:gridCol w="1695240"/>
                <a:gridCol w="2514960"/>
                <a:gridCol w="5149800"/>
              </a:tblGrid>
              <a:tr h="364320">
                <a:tc>
                  <a:txBody>
                    <a:bodyPr lIns="36000" rIns="36000" anchor="t">
                      <a:noAutofit/>
                    </a:bodyPr>
                    <a:p>
                      <a:pPr marL="9144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Tool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marL="9144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2c3e50"/>
                          </a:solidFill>
                          <a:latin typeface="Noto Sans"/>
                        </a:rPr>
                        <a:t>Layer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marL="91440">
                        <a:lnSpc>
                          <a:spcPct val="115000"/>
                        </a:lnSpc>
                        <a:spcAft>
                          <a:spcPts val="1440"/>
                        </a:spcAft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2c3e50"/>
                          </a:solidFill>
                          <a:latin typeface="Noto Sans"/>
                        </a:rPr>
                        <a:t>Job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88320">
                <a:tc>
                  <a:txBody>
                    <a:bodyPr lIns="36000" rIns="36000" anchor="t">
                      <a:noAutofit/>
                    </a:bodyPr>
                    <a:p>
                      <a:pPr marL="91440">
                        <a:lnSpc>
                          <a:spcPct val="15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2c3e50"/>
                          </a:solidFill>
                          <a:latin typeface="Noto Sans"/>
                        </a:rPr>
                        <a:t>SQLAlchemy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marL="91440">
                        <a:lnSpc>
                          <a:spcPct val="15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2c3e50"/>
                          </a:solidFill>
                          <a:latin typeface="Noto Sans"/>
                        </a:rPr>
                        <a:t>Database access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marL="91440">
                        <a:lnSpc>
                          <a:spcPct val="15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2c3e50"/>
                          </a:solidFill>
                          <a:latin typeface="Noto Sans"/>
                        </a:rPr>
                        <a:t>Maps Python classes → database tables (ORM)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18560">
                <a:tc>
                  <a:txBody>
                    <a:bodyPr lIns="36000" rIns="36000" anchor="t">
                      <a:noAutofit/>
                    </a:bodyPr>
                    <a:p>
                      <a:pPr marL="91440">
                        <a:lnSpc>
                          <a:spcPct val="150000"/>
                        </a:lnSpc>
                        <a:spcAft>
                          <a:spcPts val="289"/>
                        </a:spcAft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2c3e50"/>
                          </a:solidFill>
                          <a:latin typeface="Noto Sans"/>
                        </a:rPr>
                        <a:t>Alembic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marL="91440">
                        <a:lnSpc>
                          <a:spcPct val="150000"/>
                        </a:lnSpc>
                        <a:spcBef>
                          <a:spcPts val="1655"/>
                        </a:spcBef>
                        <a:spcAft>
                          <a:spcPts val="1440"/>
                        </a:spcAft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2c3e50"/>
                          </a:solidFill>
                          <a:latin typeface="Noto Sans"/>
                        </a:rPr>
                        <a:t>Schema management</a:t>
                      </a:r>
                      <a:r>
                        <a:rPr b="0" lang="en-US" sz="1400" spc="-1" strike="noStrike">
                          <a:solidFill>
                            <a:srgbClr val="2c3e50"/>
                          </a:solidFill>
                          <a:latin typeface="Noto Sans"/>
                        </a:rPr>
                        <a:t>	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marL="91440">
                        <a:lnSpc>
                          <a:spcPct val="150000"/>
                        </a:lnSpc>
                        <a:spcBef>
                          <a:spcPts val="1655"/>
                        </a:spcBef>
                        <a:spcAft>
                          <a:spcPts val="1440"/>
                        </a:spcAft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2c3e50"/>
                          </a:solidFill>
                          <a:latin typeface="Noto Sans"/>
                        </a:rPr>
                        <a:t>Tracks and applies changes to the database structure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05960">
                <a:tc>
                  <a:txBody>
                    <a:bodyPr lIns="36000" rIns="36000" anchor="t">
                      <a:noAutofit/>
                    </a:bodyPr>
                    <a:p>
                      <a:pPr marL="91440">
                        <a:lnSpc>
                          <a:spcPct val="15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2c3e50"/>
                          </a:solidFill>
                          <a:latin typeface="Noto Sans"/>
                        </a:rPr>
                        <a:t>FastAPI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marL="91440">
                        <a:lnSpc>
                          <a:spcPct val="150000"/>
                        </a:lnSpc>
                        <a:spcBef>
                          <a:spcPts val="1655"/>
                        </a:spcBef>
                        <a:spcAft>
                          <a:spcPts val="1440"/>
                        </a:spcAft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2c3e50"/>
                          </a:solidFill>
                          <a:latin typeface="Noto Sans"/>
                        </a:rPr>
                        <a:t>HTTP layer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marL="91440">
                        <a:lnSpc>
                          <a:spcPct val="15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2c3e50"/>
                          </a:solidFill>
                          <a:latin typeface="Noto Sans"/>
                        </a:rPr>
                        <a:t>Exposes your data as a REST API with automatic validation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1934FBB-EEBC-4D08-A367-CE03CFCFBBCA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Noto Sans"/>
              </a:rPr>
              <a:t>Python Web Apps 101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400400" y="1321560"/>
            <a:ext cx="7514280" cy="3935520"/>
          </a:xfrm>
          <a:prstGeom prst="rect">
            <a:avLst/>
          </a:prstGeom>
          <a:ln w="108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F0C3FA1-EA1C-4FCA-90E2-6C6749181744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Noto Sans"/>
              </a:rPr>
              <a:t>SQLAlchemy ORM: The Core Idea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5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095840" y="1495800"/>
            <a:ext cx="8047440" cy="3532680"/>
          </a:xfrm>
          <a:prstGeom prst="rect">
            <a:avLst/>
          </a:prstGeom>
          <a:ln w="108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6AEEA6-7EF4-4B8F-8666-C6B1930FC8FC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Noto Sans"/>
              </a:rPr>
              <a:t>Alembic - Installation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59280" cy="37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c3e50"/>
                </a:solidFill>
                <a:latin typeface="Noto Sans"/>
              </a:rPr>
              <a:t>pip install alembic sqlalchemy psycopg2-binary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c3e50"/>
                </a:solidFill>
                <a:latin typeface="Noto Sans"/>
              </a:rPr>
              <a:t>alembic init alembic</a:t>
            </a:r>
            <a:br>
              <a:rPr sz="1000"/>
            </a:b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i="1" lang="en-US" sz="2100" spc="-1" strike="noStrike">
                <a:solidFill>
                  <a:srgbClr val="2c3e50"/>
                </a:solidFill>
                <a:latin typeface="Noto Sans"/>
              </a:rPr>
              <a:t>alembic.ini</a:t>
            </a:r>
            <a:r>
              <a:rPr b="0" lang="en-US" sz="2100" spc="-1" strike="noStrike">
                <a:solidFill>
                  <a:srgbClr val="2c3e50"/>
                </a:solidFill>
                <a:latin typeface="Noto Sans"/>
              </a:rPr>
              <a:t> — main config file (database URL, log settings)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i="1" lang="en-US" sz="2100" spc="-1" strike="noStrike">
                <a:solidFill>
                  <a:srgbClr val="2c3e50"/>
                </a:solidFill>
                <a:latin typeface="Noto Sans"/>
              </a:rPr>
              <a:t>alembic/env.py</a:t>
            </a:r>
            <a:r>
              <a:rPr b="0" lang="en-US" sz="2100" spc="-1" strike="noStrike">
                <a:solidFill>
                  <a:srgbClr val="2c3e50"/>
                </a:solidFill>
                <a:latin typeface="Noto Sans"/>
              </a:rPr>
              <a:t> — the script Alembic runs when generating or applying migrations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i="1" lang="en-US" sz="2100" spc="-1" strike="noStrike">
                <a:solidFill>
                  <a:srgbClr val="2c3e50"/>
                </a:solidFill>
                <a:latin typeface="Noto Sans"/>
              </a:rPr>
              <a:t>alembic/versions/</a:t>
            </a:r>
            <a:r>
              <a:rPr b="0" lang="en-US" sz="2100" spc="-1" strike="noStrike">
                <a:solidFill>
                  <a:srgbClr val="2c3e50"/>
                </a:solidFill>
                <a:latin typeface="Noto Sans"/>
              </a:rPr>
              <a:t> — empty folder where migration files will live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D76E4D9-E1F3-4FA0-9D64-9EEA184EDA49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Noto Sans"/>
              </a:rPr>
              <a:t>Alembic - Commands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2177640" y="1868040"/>
            <a:ext cx="5770080" cy="2712960"/>
          </a:xfrm>
          <a:prstGeom prst="rect">
            <a:avLst/>
          </a:prstGeom>
          <a:ln w="108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32F43D-2E63-444E-936A-EC2812E12815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Noto Sans"/>
              </a:rPr>
              <a:t>Alembic – Migration Workflow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127400" y="3325320"/>
            <a:ext cx="360" cy="360"/>
          </a:xfrm>
          <a:prstGeom prst="rect">
            <a:avLst/>
          </a:prstGeom>
          <a:ln w="10800">
            <a:noFill/>
          </a:ln>
        </p:spPr>
      </p:pic>
      <p:pic>
        <p:nvPicPr>
          <p:cNvPr id="82" name="" descr=""/>
          <p:cNvPicPr/>
          <p:nvPr/>
        </p:nvPicPr>
        <p:blipFill>
          <a:blip r:embed="rId3"/>
          <a:stretch/>
        </p:blipFill>
        <p:spPr>
          <a:xfrm>
            <a:off x="0" y="1828800"/>
            <a:ext cx="10078920" cy="2679480"/>
          </a:xfrm>
          <a:prstGeom prst="rect">
            <a:avLst/>
          </a:prstGeom>
          <a:ln w="108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FAFE592-9F1D-427C-A3F9-D87D384F5D98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Noto Sans"/>
              </a:rPr>
              <a:t>Pydantic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1828800" y="1600200"/>
            <a:ext cx="6400080" cy="3199680"/>
          </a:xfrm>
          <a:prstGeom prst="rect">
            <a:avLst/>
          </a:prstGeom>
          <a:noFill/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ourier New"/>
                <a:ea typeface="Courier New"/>
              </a:rPr>
              <a:t>SQLAlchemy model (models.py)     ≠     Pydantic schema (schemas.py)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ourier New"/>
                <a:ea typeface="Courier New"/>
              </a:rPr>
              <a:t>User ORM model                         UserResponse schema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ourier New"/>
                <a:ea typeface="Courier New"/>
              </a:rPr>
              <a:t>  → </a:t>
            </a:r>
            <a:r>
              <a:rPr b="0" lang="en-US" sz="1000" spc="-1" strike="noStrike">
                <a:solidFill>
                  <a:srgbClr val="2c3e50"/>
                </a:solidFill>
                <a:latin typeface="Courier New"/>
                <a:ea typeface="Courier New"/>
              </a:rPr>
              <a:t>represents a database row            → represents what the API returns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ourier New"/>
                <a:ea typeface="Courier New"/>
              </a:rPr>
              <a:t>  → </a:t>
            </a:r>
            <a:r>
              <a:rPr b="0" lang="en-US" sz="1000" spc="-1" strike="noStrike">
                <a:solidFill>
                  <a:srgbClr val="2c3e50"/>
                </a:solidFill>
                <a:latin typeface="Courier New"/>
                <a:ea typeface="Courier New"/>
              </a:rPr>
              <a:t>has relationships, lazy loading      → is a clean, serializable dict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ourier New"/>
                <a:ea typeface="Courier New"/>
              </a:rPr>
              <a:t>  → </a:t>
            </a:r>
            <a:r>
              <a:rPr b="0" lang="en-US" sz="1000" spc="-1" strike="noStrike">
                <a:solidFill>
                  <a:srgbClr val="2c3e50"/>
                </a:solidFill>
                <a:latin typeface="Courier New"/>
                <a:ea typeface="Courier New"/>
              </a:rPr>
              <a:t>tied to a DB session                 → knows nothing about the database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6CB970A-F9F8-40BF-A04C-C9DA69482D1A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Noto Sans"/>
              </a:rPr>
              <a:t>Thank You!</a:t>
            </a:r>
            <a:r>
              <a:rPr b="1" lang="en-US" sz="2700" spc="-1" strike="noStrike">
                <a:solidFill>
                  <a:srgbClr val="ffffff"/>
                </a:solidFill>
                <a:latin typeface="Noto Sans"/>
              </a:rPr>
              <a:t>	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3782160" y="1672560"/>
            <a:ext cx="2561040" cy="3103920"/>
          </a:xfrm>
          <a:prstGeom prst="rect">
            <a:avLst/>
          </a:prstGeom>
          <a:ln w="108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8EDA666-3258-4345-88F8-56A7B1B78E7D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2026-02-23T12:52:07Z</dcterms:created>
  <dc:creator/>
  <dc:description/>
  <dc:language>en-US</dc:language>
  <cp:lastModifiedBy/>
  <dcterms:modified xsi:type="dcterms:W3CDTF">2026-03-05T14:54:53Z</dcterms:modified>
  <cp:revision>16</cp:revision>
  <dc:subject/>
  <dc:title>Midnightblue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